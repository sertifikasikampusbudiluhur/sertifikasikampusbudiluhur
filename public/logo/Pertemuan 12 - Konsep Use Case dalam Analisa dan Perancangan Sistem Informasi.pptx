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Bricolage Grotesque Semi Bold" panose="020B0604020202020204" charset="0"/>
      <p:regular r:id="rId23"/>
    </p:embeddedFont>
    <p:embeddedFont>
      <p:font typeface="Inter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003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.ummetro.ac.id/index.php/IlmuKomputer/article/download/4142/2125" TargetMode="External"/><Relationship Id="rId3" Type="http://schemas.openxmlformats.org/officeDocument/2006/relationships/image" Target="../media/image38.png"/><Relationship Id="rId7" Type="http://schemas.openxmlformats.org/officeDocument/2006/relationships/hyperlink" Target="https://sis.binus.ac.id/2018/08/27/usecases-di-dalam-mengembangkan-sistem-part-1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9.png"/><Relationship Id="rId5" Type="http://schemas.openxmlformats.org/officeDocument/2006/relationships/hyperlink" Target="https://sis.binus.ac.id/2024/10/30/teknik-dalam-melakukan-identifikasi-use-case" TargetMode="External"/><Relationship Id="rId4" Type="http://schemas.openxmlformats.org/officeDocument/2006/relationships/hyperlink" Target="https://sis.binus.ac.id/2024/05/29/pengenalan-use-cas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Konsep Use Case dalam Analisa dan Perancangan Sistem Informasi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Mata Kuliah Analisa dan Perancangan Sistem Informasi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4251841"/>
            <a:ext cx="759381" cy="426244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4319826"/>
            <a:ext cx="4872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4768810"/>
            <a:ext cx="1111365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Pengenalan Konsep Use Case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793790" y="60871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Memahami fondasi dasar use case sebagai alat utama dalam merancang sistem informasi yang berorientasi pada kebutuhan pengguna.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77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Apa Itu Use Case?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76130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</a:t>
            </a: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adalah deskripsi aktivitas yang dilakukan oleh sistem sebagai respons terhadap permintaan dari pengguna. Konsep ini menjadi pondasi penting dalam perancangan sistem informasi.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047" y="862839"/>
            <a:ext cx="3744999" cy="37449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511814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5118140"/>
            <a:ext cx="121920" cy="20937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2524" y="5375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Interaksi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142524" y="586585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Fokus pada hubungan antara pengguna (aktor) dan sistem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511814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482" y="5118140"/>
            <a:ext cx="121920" cy="20937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65696" y="5375434"/>
            <a:ext cx="29342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Kebutuhan Pengguna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565696" y="586585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Menjadi dasar merancang sistem yang sesuai kebutuhan nyata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9640133" y="511814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653" y="5118140"/>
            <a:ext cx="121920" cy="20937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88868" y="5375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Fungsionalitas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9988868" y="586585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Menggambarkan </a:t>
            </a:r>
            <a:r>
              <a:rPr lang="en-US" sz="1750" i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</a:t>
            </a: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dilakukan sistem, bukan </a:t>
            </a:r>
            <a:r>
              <a:rPr lang="en-US" sz="1750" i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0951"/>
            <a:ext cx="936486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Perbedaan Use Case dan User Story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3929777"/>
            <a:ext cx="13042821" cy="30480"/>
          </a:xfrm>
          <a:prstGeom prst="roundRect">
            <a:avLst>
              <a:gd name="adj" fmla="val 296930"/>
            </a:avLst>
          </a:prstGeom>
          <a:solidFill>
            <a:srgbClr val="F8ECD3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023705"/>
            <a:ext cx="6393418" cy="1906072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43664" y="224670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User Story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16794" y="2706053"/>
            <a:ext cx="5947410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Kalimat singkat dengan bahasa sehari-hari yang fokus pada </a:t>
            </a:r>
            <a:r>
              <a:rPr lang="en-US" sz="16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tujuan pengguna</a:t>
            </a: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Biasanya menggunakan format: "Sebagai [peran], saya ingin [aksi] agar [manfaat]."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43073" y="3960257"/>
            <a:ext cx="6393537" cy="190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293066" y="417564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Use Case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66077" y="4634984"/>
            <a:ext cx="5947529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Deskripsi </a:t>
            </a:r>
            <a:r>
              <a:rPr lang="en-US" sz="16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aktivitas sistem</a:t>
            </a: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menjawab permintaan pengguna secara detail dan terstruktur, mencakup skenario utama hingga alternatif.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93790" y="6066115"/>
            <a:ext cx="13042821" cy="1222534"/>
          </a:xfrm>
          <a:prstGeom prst="roundRect">
            <a:avLst>
              <a:gd name="adj" fmla="val 7403"/>
            </a:avLst>
          </a:prstGeom>
          <a:solidFill>
            <a:srgbClr val="F4E3BD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6390680"/>
            <a:ext cx="269319" cy="2153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93877" y="6324600"/>
            <a:ext cx="12127349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 User Story:</a:t>
            </a:r>
            <a:r>
              <a:rPr lang="en-US" sz="1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"Sebagai teller, saya ingin membuat deposit agar dapat melayani lebih banyak pelanggan dengan cepat."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8675"/>
            <a:ext cx="1188958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Manfaat Use Case dalam Pengembangan Sistem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848" y="1592223"/>
            <a:ext cx="6091952" cy="60919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02867" y="1948815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79365" y="1987034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245804" y="201894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Komunikasi Efektif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45804" y="2521506"/>
            <a:ext cx="359830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Memudahkan dialog antara analis, developer, dan stakeholder dengan bahasa yang sama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2867" y="3819763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79365" y="3857982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245804" y="388989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Acuan UML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245804" y="4392454"/>
            <a:ext cx="359830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Menjadi dasar pembuatan diagram UML seperti Use Case Diagram dan Activity Diagram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02867" y="5690711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79365" y="5728930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245804" y="5760839"/>
            <a:ext cx="278118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Identifikasi Kebutuhan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245804" y="6263402"/>
            <a:ext cx="359830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Membantu mengidentifikasi kebutuhan fungsional sistem secara lengkap dan terstruktur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345055"/>
            <a:ext cx="796171" cy="426244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2413040"/>
            <a:ext cx="52399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862024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Fungsi dan Tujuan Use Case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6280190" y="515862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Mengapa use case menjadi komponen krusial dalam siklus pengembangan sistem informasi?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5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Fungsi Use Case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327440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40530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Menggambarkan Interaksi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4250055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Memetakan interaksi antara sistem dan aktor secara terstruktur, sehingga setiap proses bisnis terdokumentasi dengan jelas.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327440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73008" y="340530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Menjelaskan Proses Bisnis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73008" y="4250055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Mendeskripsikan proses bisnis yang didukung oleh sistem, mulai dari alur utama hingga skenario alternatif.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327440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15111" y="3405307"/>
            <a:ext cx="33744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Dokumentasi Kebutuhan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415111" y="3895725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Menjadi dasar dokumentasi kebutuhan fungsional yang dapat dirujuk sepanjang siklus pengembangan.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274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Tujuan Use Case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624" y="2003618"/>
            <a:ext cx="5897011" cy="589701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66910" y="1930598"/>
            <a:ext cx="4277201" cy="1620917"/>
          </a:xfrm>
          <a:prstGeom prst="roundRect">
            <a:avLst>
              <a:gd name="adj" fmla="val 47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8ECD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89770" y="1953458"/>
            <a:ext cx="725805" cy="1575197"/>
          </a:xfrm>
          <a:prstGeom prst="roundRect">
            <a:avLst>
              <a:gd name="adj" fmla="val 6721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812774" y="257091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60712" y="2134910"/>
            <a:ext cx="255877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Pemenuhan Kebutuhan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460712" y="2563535"/>
            <a:ext cx="3179088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Memastikan sistem yang dibangun benar-benar memenuhi kebutuhan pengguna akhir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566910" y="3696653"/>
            <a:ext cx="4277201" cy="1620917"/>
          </a:xfrm>
          <a:prstGeom prst="roundRect">
            <a:avLst>
              <a:gd name="adj" fmla="val 47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8EC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89770" y="3719513"/>
            <a:ext cx="725805" cy="1575197"/>
          </a:xfrm>
          <a:prstGeom prst="roundRect">
            <a:avLst>
              <a:gd name="adj" fmla="val 6721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812774" y="433697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460712" y="3900964"/>
            <a:ext cx="238946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Skenario Penggunaan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460712" y="4329589"/>
            <a:ext cx="3179088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Mengidentifikasi berbagai skenario penggunaan sistem, termasuk kondisi normal dan pengecualian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566910" y="5462707"/>
            <a:ext cx="4277201" cy="1620917"/>
          </a:xfrm>
          <a:prstGeom prst="roundRect">
            <a:avLst>
              <a:gd name="adj" fmla="val 47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8EC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89770" y="5485567"/>
            <a:ext cx="725805" cy="1575197"/>
          </a:xfrm>
          <a:prstGeom prst="roundRect">
            <a:avLst>
              <a:gd name="adj" fmla="val 6721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9812774" y="610302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0460712" y="566701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Dasar Pengujian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460712" y="6095643"/>
            <a:ext cx="3179088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Membantu tim QA melakukan pengujian sistem berdasarkan skenario nyata yang terdokumentasi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017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Contoh Fungsi Use Case pada Sistem Perbankan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13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perbankan merupakan contoh klasik penerapan use case karena memiliki banyak aktor dan proses bisnis yang terstruktur.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52317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5386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Penarikan Tunai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8768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Nasabah melakukan penarikan tunai melalui ATM atau teller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4252317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5386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Cek Saldo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58768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Nasabah memeriksa saldo rekening secara real-time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4252317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5386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Transfer Dana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58768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Nasabah melakukan transfer antar rekening bank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345055"/>
            <a:ext cx="797600" cy="426244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2413040"/>
            <a:ext cx="52542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862024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Identifikasi Aktor Use Case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793790" y="515862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Mengenali siapa saja yang berinteraksi dengan sistem merupakan langkah awal yang kritis dalam perancangan use case.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8248"/>
            <a:ext cx="7889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Siapa Aktor dalam Use Case?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6632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Aktor</a:t>
            </a: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adalah entitas di luar sistem yang berinteraksi langsung dengan sistem untuk mencapai suatu tujuan. Aktor bukan selalu manusia — bisa juga berupa sistem eksternal atau perangkat.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046" y="2522339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5318641"/>
            <a:ext cx="4196358" cy="1692712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5553075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👤</a:t>
            </a: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Manusia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605111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Nasabah, Teller, Admin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318641"/>
            <a:ext cx="4196358" cy="1692712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51396" y="5553075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🖥️</a:t>
            </a: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Sistem Lain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51396" y="605111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Pembayaran, Sistem Otentikasi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40133" y="5318641"/>
            <a:ext cx="4196358" cy="1692712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4568" y="5553075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📱</a:t>
            </a: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Perangkat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74568" y="605111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Scanner, ATM, Printer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885" y="474464"/>
            <a:ext cx="5022413" cy="539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Teknik Identifikasi Aktor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" y="1276112"/>
            <a:ext cx="13422630" cy="604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67833" y="1561866"/>
            <a:ext cx="2348951" cy="362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Identifikasi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167833" y="2028107"/>
            <a:ext cx="2348951" cy="51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Daftar semua pengguna potensial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8619" y="3172535"/>
            <a:ext cx="520286" cy="5202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36288" y="5964334"/>
            <a:ext cx="2361858" cy="362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Kategorisasi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6136288" y="6430575"/>
            <a:ext cx="2361858" cy="766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Kelompokkan berdasarkan peran dan fungsi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57073" y="5069765"/>
            <a:ext cx="520286" cy="5202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14399" y="1389042"/>
            <a:ext cx="2348951" cy="362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Wawancara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9014399" y="1855283"/>
            <a:ext cx="2348951" cy="766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Gali kebutuhan tiap aktor melalui wawancara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3903" y="3120910"/>
            <a:ext cx="520286" cy="52028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3885" y="7463909"/>
            <a:ext cx="13422630" cy="48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Proses identifikasi aktor dilakukan secara iteratif — mulai dari mengumpulkan daftar pengguna, mengelompokkan berdasarkan peran, lalu mendalami kebutuhan masing-masing melalui wawancara dan observasi.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428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Contoh Identifikasi Aktor pada Sistem Penjualan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54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Berikut adalah contoh aktor yang umum ditemukan pada sistem penjualan beserta peran utamanya: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3521"/>
            <a:ext cx="2411968" cy="2411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6098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Customer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58939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Pelanggan yang memesan dan membeli produk melalui sistem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403521"/>
            <a:ext cx="2411968" cy="2411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6098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Salesperson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658939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Penjual yang memproses pesanan dan mengelola katalog produk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403521"/>
            <a:ext cx="2411968" cy="24119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6098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Administrator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658939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Mengelola pengguna, hak akses, dan konfigurasi sistem keseluruhan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345055"/>
            <a:ext cx="802719" cy="426244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2413040"/>
            <a:ext cx="53054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862024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Studi Kasus untuk Tugas Mahasiswa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6280190" y="515862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Terapkan pemahaman konsep use case melalui studi kasus nyata berikut ini.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9376"/>
            <a:ext cx="1200519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Studi Kasus: Sistem Inventaris Gudang PT PQR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85710" y="1930122"/>
            <a:ext cx="1380292" cy="413147"/>
          </a:xfrm>
          <a:prstGeom prst="roundRect">
            <a:avLst>
              <a:gd name="adj" fmla="val 17525"/>
            </a:avLst>
          </a:prstGeom>
          <a:noFill/>
          <a:ln w="7620">
            <a:solidFill>
              <a:srgbClr val="E7BF6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2513" y="2050494"/>
            <a:ext cx="172283" cy="1722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80878" y="2002274"/>
            <a:ext cx="848320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MASALAH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585710" y="2573536"/>
            <a:ext cx="6258520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 PQR mengalami </a:t>
            </a:r>
            <a:r>
              <a:rPr lang="en-US" sz="16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kesalahan pencatatan stok</a:t>
            </a: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</a:t>
            </a:r>
            <a:r>
              <a:rPr lang="en-US" sz="16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duplikat</a:t>
            </a: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menyebabkan kerugian operasional.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7585710" y="3583718"/>
            <a:ext cx="6258520" cy="34528"/>
          </a:xfrm>
          <a:prstGeom prst="rect">
            <a:avLst/>
          </a:prstGeom>
          <a:solidFill>
            <a:srgbClr val="2C2926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585710" y="38484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Aktor yang Terlibat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585710" y="4389715"/>
            <a:ext cx="6258520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Petugas Gudang</a:t>
            </a: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menginput data barang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Manajer</a:t>
            </a: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memantau laporan stok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Inventaris</a:t>
            </a: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validasi otomatis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585710" y="574583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Use Case Utama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585710" y="6287095"/>
            <a:ext cx="6258520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barang masuk dan keluar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Laporan stok secara real-time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Validasi dan deduplikasi data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4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075" y="3456027"/>
            <a:ext cx="5665351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Tugas Mahasiswa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075" y="4843582"/>
            <a:ext cx="4197191" cy="2762488"/>
          </a:xfrm>
          <a:prstGeom prst="roundRect">
            <a:avLst>
              <a:gd name="adj" fmla="val 5296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75" y="4813102"/>
            <a:ext cx="4197191" cy="1219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748" y="4503658"/>
            <a:ext cx="679847" cy="67984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55702" y="4673560"/>
            <a:ext cx="271939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1050131" y="5410081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50131" y="5899785"/>
            <a:ext cx="3683079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Buat Use Case Diagram lengkap berdasarkan studi kasus PT PQR menggunakan notasi UML standar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5216604" y="4843582"/>
            <a:ext cx="4197191" cy="2762488"/>
          </a:xfrm>
          <a:prstGeom prst="roundRect">
            <a:avLst>
              <a:gd name="adj" fmla="val 5296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04" y="4813102"/>
            <a:ext cx="4197191" cy="12192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5277" y="4503658"/>
            <a:ext cx="679847" cy="6798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179231" y="4673560"/>
            <a:ext cx="271939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7"/>
          <p:cNvSpPr/>
          <p:nvPr/>
        </p:nvSpPr>
        <p:spPr>
          <a:xfrm>
            <a:off x="5473660" y="5410081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Identifikasi Aktor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5473660" y="5899785"/>
            <a:ext cx="3683079" cy="144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Identifikasi seluruh aktor dan deskripsikan minimal </a:t>
            </a: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use case utama</a:t>
            </a: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beserta skenario normalnya</a:t>
            </a:r>
            <a:endParaRPr lang="en-US" sz="1750" dirty="0"/>
          </a:p>
        </p:txBody>
      </p:sp>
      <p:sp>
        <p:nvSpPr>
          <p:cNvPr id="16" name="Shape 9"/>
          <p:cNvSpPr/>
          <p:nvPr/>
        </p:nvSpPr>
        <p:spPr>
          <a:xfrm>
            <a:off x="9640133" y="4843582"/>
            <a:ext cx="4197191" cy="2762488"/>
          </a:xfrm>
          <a:prstGeom prst="roundRect">
            <a:avLst>
              <a:gd name="adj" fmla="val 5296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133" y="4813102"/>
            <a:ext cx="4197191" cy="12192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8806" y="4503658"/>
            <a:ext cx="679847" cy="679847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602760" y="4673560"/>
            <a:ext cx="271939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1"/>
          <p:cNvSpPr/>
          <p:nvPr/>
        </p:nvSpPr>
        <p:spPr>
          <a:xfrm>
            <a:off x="9897189" y="5410081"/>
            <a:ext cx="3303032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Analisis Fungsi &amp; Tujuan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9897189" y="5899785"/>
            <a:ext cx="3683079" cy="144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Jelaskan fungsi dan tujuan setiap use case yang dibuat serta kaitannya dengan kebutuhan bisnis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4433292"/>
            <a:ext cx="793194" cy="426244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4501277"/>
            <a:ext cx="5210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 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4950262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Kesimpulan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793790" y="62686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Rangkuman poin-poin kunci dari seluruh materi use case yang telah dibahas.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0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Kesimpulan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7505"/>
            <a:ext cx="6407944" cy="1685092"/>
          </a:xfrm>
          <a:prstGeom prst="roundRect">
            <a:avLst>
              <a:gd name="adj" fmla="val 32306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Alat Penting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 adalah alat fundamental dalam analisa dan perancangan sistem informasi modern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97505"/>
            <a:ext cx="6408063" cy="1685092"/>
          </a:xfrm>
          <a:prstGeom prst="roundRect">
            <a:avLst>
              <a:gd name="adj" fmla="val 32306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Kejelasan Interaksi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Membantu memahami interaksi antara sistem dan pengguna secara jelas dan terstruktur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85092"/>
          </a:xfrm>
          <a:prstGeom prst="roundRect">
            <a:avLst>
              <a:gd name="adj" fmla="val 32306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Kualitas Sistem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53426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Identifikasi aktor dan use case yang tepat meningkatkan kualitas sistem yang dihasilkan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85092"/>
          </a:xfrm>
          <a:prstGeom prst="roundRect">
            <a:avLst>
              <a:gd name="adj" fmla="val 32306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Penerapan Nyata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53426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 kasus memperkuat pemahaman konsep dan kemampuan aplikasi di dunia nyata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15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Referensi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415189"/>
            <a:ext cx="60960" cy="2448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1564" y="3445669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Pengenalan Use Case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81564" y="4381143"/>
            <a:ext cx="26928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of Information Systems, BINUS University, 2024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D4A33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sis.binus.ac.id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408" y="3415189"/>
            <a:ext cx="60960" cy="24480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5662" y="3445669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Teknik Identifikasi Use Case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345662" y="4381143"/>
            <a:ext cx="26928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Ferdianto &amp; Chessa Cornelia, BINUS, 2024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D4A33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sis.binus.ac.id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9041" y="3415189"/>
            <a:ext cx="60960" cy="2439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87295" y="3445669"/>
            <a:ext cx="269283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Use Cases dalam Pengembangan Sistem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887295" y="4735473"/>
            <a:ext cx="26928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Sugiarto Hartono, BINUS, 2018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D4A33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sis.binus.ac.id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3140" y="3415189"/>
            <a:ext cx="60960" cy="2439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1394" y="3445669"/>
            <a:ext cx="269283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Studi Kasus Inventaris Gudang PT PQR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151394" y="4735473"/>
            <a:ext cx="26928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Jurnal Mahasiswa Ilmu Komputer, 2023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D4A33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scholar.ummetro.ac.id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49492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Terima Kasih!</a:t>
            </a:r>
            <a:endParaRPr lang="en-US" sz="6150" dirty="0"/>
          </a:p>
        </p:txBody>
      </p:sp>
      <p:sp>
        <p:nvSpPr>
          <p:cNvPr id="4" name="Shape 1"/>
          <p:cNvSpPr/>
          <p:nvPr/>
        </p:nvSpPr>
        <p:spPr>
          <a:xfrm>
            <a:off x="793790" y="2967871"/>
            <a:ext cx="7556421" cy="1692712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202305"/>
            <a:ext cx="334791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💬</a:t>
            </a: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Pertanyaan &amp; Diskusi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70034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Silakan ajukan pertanyaan terkait materi use case yang telah dibahas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887397"/>
            <a:ext cx="7556421" cy="1692712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224" y="5121831"/>
            <a:ext cx="435721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📝</a:t>
            </a: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Selamat Mengerjakan Tugas!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5619869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Kerjakan studi kasus PT PQR dan kumpulkan sesuai tenggat waktu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</Words>
  <Application>Microsoft Office PowerPoint</Application>
  <PresentationFormat>Custom</PresentationFormat>
  <Paragraphs>158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Inter</vt:lpstr>
      <vt:lpstr>Arial</vt:lpstr>
      <vt:lpstr>Bricolage Grotesque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Mufidah Karimah</cp:lastModifiedBy>
  <cp:revision>2</cp:revision>
  <dcterms:created xsi:type="dcterms:W3CDTF">2026-02-21T02:09:56Z</dcterms:created>
  <dcterms:modified xsi:type="dcterms:W3CDTF">2026-02-21T02:17:21Z</dcterms:modified>
</cp:coreProperties>
</file>